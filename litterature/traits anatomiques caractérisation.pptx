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1A2ECA-9FF9-0B6F-1082-70ECB143E10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355856A9-D2B6-E3B8-6E90-2AC260A252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050A16F-F1E6-A191-1BA6-9DB24A5AD021}"/>
              </a:ext>
            </a:extLst>
          </p:cNvPr>
          <p:cNvSpPr>
            <a:spLocks noGrp="1"/>
          </p:cNvSpPr>
          <p:nvPr>
            <p:ph type="dt" sz="half" idx="10"/>
          </p:nvPr>
        </p:nvSpPr>
        <p:spPr/>
        <p:txBody>
          <a:bodyPr/>
          <a:lstStyle/>
          <a:p>
            <a:fld id="{B6AE6920-1C94-448C-AE83-38E940FC2435}" type="datetimeFigureOut">
              <a:rPr lang="fr-FR" smtClean="0"/>
              <a:t>05/05/2026</a:t>
            </a:fld>
            <a:endParaRPr lang="fr-FR"/>
          </a:p>
        </p:txBody>
      </p:sp>
      <p:sp>
        <p:nvSpPr>
          <p:cNvPr id="5" name="Espace réservé du pied de page 4">
            <a:extLst>
              <a:ext uri="{FF2B5EF4-FFF2-40B4-BE49-F238E27FC236}">
                <a16:creationId xmlns:a16="http://schemas.microsoft.com/office/drawing/2014/main" id="{AEABF849-5E57-561C-C741-13B00716CB8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6C5AEFA-947F-8AB3-7D7A-DE53AF4C95CF}"/>
              </a:ext>
            </a:extLst>
          </p:cNvPr>
          <p:cNvSpPr>
            <a:spLocks noGrp="1"/>
          </p:cNvSpPr>
          <p:nvPr>
            <p:ph type="sldNum" sz="quarter" idx="12"/>
          </p:nvPr>
        </p:nvSpPr>
        <p:spPr/>
        <p:txBody>
          <a:bodyPr/>
          <a:lstStyle/>
          <a:p>
            <a:fld id="{8258ECC1-3D3C-430F-903F-C98AD04EE686}" type="slidenum">
              <a:rPr lang="fr-FR" smtClean="0"/>
              <a:t>‹N°›</a:t>
            </a:fld>
            <a:endParaRPr lang="fr-FR"/>
          </a:p>
        </p:txBody>
      </p:sp>
    </p:spTree>
    <p:extLst>
      <p:ext uri="{BB962C8B-B14F-4D97-AF65-F5344CB8AC3E}">
        <p14:creationId xmlns:p14="http://schemas.microsoft.com/office/powerpoint/2010/main" val="60624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432D25-1943-D7D8-4D67-872FBC51A50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2178A1D-CCA0-DE9D-5214-2F7D6F6DEB4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E464AE9-893C-C0AC-02E7-12D4ECADB3BC}"/>
              </a:ext>
            </a:extLst>
          </p:cNvPr>
          <p:cNvSpPr>
            <a:spLocks noGrp="1"/>
          </p:cNvSpPr>
          <p:nvPr>
            <p:ph type="dt" sz="half" idx="10"/>
          </p:nvPr>
        </p:nvSpPr>
        <p:spPr/>
        <p:txBody>
          <a:bodyPr/>
          <a:lstStyle/>
          <a:p>
            <a:fld id="{B6AE6920-1C94-448C-AE83-38E940FC2435}" type="datetimeFigureOut">
              <a:rPr lang="fr-FR" smtClean="0"/>
              <a:t>05/05/2026</a:t>
            </a:fld>
            <a:endParaRPr lang="fr-FR"/>
          </a:p>
        </p:txBody>
      </p:sp>
      <p:sp>
        <p:nvSpPr>
          <p:cNvPr id="5" name="Espace réservé du pied de page 4">
            <a:extLst>
              <a:ext uri="{FF2B5EF4-FFF2-40B4-BE49-F238E27FC236}">
                <a16:creationId xmlns:a16="http://schemas.microsoft.com/office/drawing/2014/main" id="{C4FDE557-ADAD-57B3-0526-419CDE37461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D36A6A6-358C-D177-10B8-B930D67C187C}"/>
              </a:ext>
            </a:extLst>
          </p:cNvPr>
          <p:cNvSpPr>
            <a:spLocks noGrp="1"/>
          </p:cNvSpPr>
          <p:nvPr>
            <p:ph type="sldNum" sz="quarter" idx="12"/>
          </p:nvPr>
        </p:nvSpPr>
        <p:spPr/>
        <p:txBody>
          <a:bodyPr/>
          <a:lstStyle/>
          <a:p>
            <a:fld id="{8258ECC1-3D3C-430F-903F-C98AD04EE686}" type="slidenum">
              <a:rPr lang="fr-FR" smtClean="0"/>
              <a:t>‹N°›</a:t>
            </a:fld>
            <a:endParaRPr lang="fr-FR"/>
          </a:p>
        </p:txBody>
      </p:sp>
    </p:spTree>
    <p:extLst>
      <p:ext uri="{BB962C8B-B14F-4D97-AF65-F5344CB8AC3E}">
        <p14:creationId xmlns:p14="http://schemas.microsoft.com/office/powerpoint/2010/main" val="3330490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C4AAA1-0C0A-AB68-5BBD-0EEAE06A129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048B44FA-466E-0FD4-4551-9E9C8697EEC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470B9C6-CDE2-229C-A2A9-865A8FBBAF80}"/>
              </a:ext>
            </a:extLst>
          </p:cNvPr>
          <p:cNvSpPr>
            <a:spLocks noGrp="1"/>
          </p:cNvSpPr>
          <p:nvPr>
            <p:ph type="dt" sz="half" idx="10"/>
          </p:nvPr>
        </p:nvSpPr>
        <p:spPr/>
        <p:txBody>
          <a:bodyPr/>
          <a:lstStyle/>
          <a:p>
            <a:fld id="{B6AE6920-1C94-448C-AE83-38E940FC2435}" type="datetimeFigureOut">
              <a:rPr lang="fr-FR" smtClean="0"/>
              <a:t>05/05/2026</a:t>
            </a:fld>
            <a:endParaRPr lang="fr-FR"/>
          </a:p>
        </p:txBody>
      </p:sp>
      <p:sp>
        <p:nvSpPr>
          <p:cNvPr id="5" name="Espace réservé du pied de page 4">
            <a:extLst>
              <a:ext uri="{FF2B5EF4-FFF2-40B4-BE49-F238E27FC236}">
                <a16:creationId xmlns:a16="http://schemas.microsoft.com/office/drawing/2014/main" id="{428FF7FD-F3F4-FD32-200F-361643623AC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92D2037-F742-3123-9554-5F000265B1E6}"/>
              </a:ext>
            </a:extLst>
          </p:cNvPr>
          <p:cNvSpPr>
            <a:spLocks noGrp="1"/>
          </p:cNvSpPr>
          <p:nvPr>
            <p:ph type="sldNum" sz="quarter" idx="12"/>
          </p:nvPr>
        </p:nvSpPr>
        <p:spPr/>
        <p:txBody>
          <a:bodyPr/>
          <a:lstStyle/>
          <a:p>
            <a:fld id="{8258ECC1-3D3C-430F-903F-C98AD04EE686}" type="slidenum">
              <a:rPr lang="fr-FR" smtClean="0"/>
              <a:t>‹N°›</a:t>
            </a:fld>
            <a:endParaRPr lang="fr-FR"/>
          </a:p>
        </p:txBody>
      </p:sp>
    </p:spTree>
    <p:extLst>
      <p:ext uri="{BB962C8B-B14F-4D97-AF65-F5344CB8AC3E}">
        <p14:creationId xmlns:p14="http://schemas.microsoft.com/office/powerpoint/2010/main" val="194877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DAC45A-8CF0-CC24-1B00-B50EBDBF48C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43DB93D-CC55-9A29-0891-6A0FC8390787}"/>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CFFAB50-48C7-3860-0CE5-7E87A7587DE9}"/>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4C0DACC-5219-BF68-DB42-BA3C0E8259D2}"/>
              </a:ext>
            </a:extLst>
          </p:cNvPr>
          <p:cNvSpPr>
            <a:spLocks noGrp="1"/>
          </p:cNvSpPr>
          <p:nvPr>
            <p:ph type="dt" sz="half" idx="10"/>
          </p:nvPr>
        </p:nvSpPr>
        <p:spPr/>
        <p:txBody>
          <a:bodyPr/>
          <a:lstStyle/>
          <a:p>
            <a:fld id="{B6AE6920-1C94-448C-AE83-38E940FC2435}" type="datetimeFigureOut">
              <a:rPr lang="fr-FR" smtClean="0"/>
              <a:t>05/05/2026</a:t>
            </a:fld>
            <a:endParaRPr lang="fr-FR"/>
          </a:p>
        </p:txBody>
      </p:sp>
      <p:sp>
        <p:nvSpPr>
          <p:cNvPr id="6" name="Espace réservé du pied de page 5">
            <a:extLst>
              <a:ext uri="{FF2B5EF4-FFF2-40B4-BE49-F238E27FC236}">
                <a16:creationId xmlns:a16="http://schemas.microsoft.com/office/drawing/2014/main" id="{64BD6B93-A65B-89F5-1EBE-BCA3B250B58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EC81791-78E6-615B-79AF-A31B26E9F76B}"/>
              </a:ext>
            </a:extLst>
          </p:cNvPr>
          <p:cNvSpPr>
            <a:spLocks noGrp="1"/>
          </p:cNvSpPr>
          <p:nvPr>
            <p:ph type="sldNum" sz="quarter" idx="12"/>
          </p:nvPr>
        </p:nvSpPr>
        <p:spPr/>
        <p:txBody>
          <a:bodyPr/>
          <a:lstStyle/>
          <a:p>
            <a:fld id="{8258ECC1-3D3C-430F-903F-C98AD04EE686}" type="slidenum">
              <a:rPr lang="fr-FR" smtClean="0"/>
              <a:t>‹N°›</a:t>
            </a:fld>
            <a:endParaRPr lang="fr-FR"/>
          </a:p>
        </p:txBody>
      </p:sp>
    </p:spTree>
    <p:extLst>
      <p:ext uri="{BB962C8B-B14F-4D97-AF65-F5344CB8AC3E}">
        <p14:creationId xmlns:p14="http://schemas.microsoft.com/office/powerpoint/2010/main" val="1693208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E05C1A-3F3B-F9FD-1176-34556B0FE94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C46F27A-3639-4847-CBFE-47DCFBDA57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B736843-DB98-E7AF-7550-72020838BDD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071C230-30CE-93D4-19A3-859E80CE27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A6A49564-1B9F-6512-988B-7BCF5D005EF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D109ED33-B159-FFE6-2CB3-62BE46D29697}"/>
              </a:ext>
            </a:extLst>
          </p:cNvPr>
          <p:cNvSpPr>
            <a:spLocks noGrp="1"/>
          </p:cNvSpPr>
          <p:nvPr>
            <p:ph type="dt" sz="half" idx="10"/>
          </p:nvPr>
        </p:nvSpPr>
        <p:spPr/>
        <p:txBody>
          <a:bodyPr/>
          <a:lstStyle/>
          <a:p>
            <a:fld id="{B6AE6920-1C94-448C-AE83-38E940FC2435}" type="datetimeFigureOut">
              <a:rPr lang="fr-FR" smtClean="0"/>
              <a:t>05/05/2026</a:t>
            </a:fld>
            <a:endParaRPr lang="fr-FR"/>
          </a:p>
        </p:txBody>
      </p:sp>
      <p:sp>
        <p:nvSpPr>
          <p:cNvPr id="8" name="Espace réservé du pied de page 7">
            <a:extLst>
              <a:ext uri="{FF2B5EF4-FFF2-40B4-BE49-F238E27FC236}">
                <a16:creationId xmlns:a16="http://schemas.microsoft.com/office/drawing/2014/main" id="{27A8618F-B810-44CC-4B4D-CD73BE0E5A72}"/>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3BE5348-B33F-45C7-B6FB-381E082387A4}"/>
              </a:ext>
            </a:extLst>
          </p:cNvPr>
          <p:cNvSpPr>
            <a:spLocks noGrp="1"/>
          </p:cNvSpPr>
          <p:nvPr>
            <p:ph type="sldNum" sz="quarter" idx="12"/>
          </p:nvPr>
        </p:nvSpPr>
        <p:spPr/>
        <p:txBody>
          <a:bodyPr/>
          <a:lstStyle/>
          <a:p>
            <a:fld id="{8258ECC1-3D3C-430F-903F-C98AD04EE686}" type="slidenum">
              <a:rPr lang="fr-FR" smtClean="0"/>
              <a:t>‹N°›</a:t>
            </a:fld>
            <a:endParaRPr lang="fr-FR"/>
          </a:p>
        </p:txBody>
      </p:sp>
    </p:spTree>
    <p:extLst>
      <p:ext uri="{BB962C8B-B14F-4D97-AF65-F5344CB8AC3E}">
        <p14:creationId xmlns:p14="http://schemas.microsoft.com/office/powerpoint/2010/main" val="778738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AB30BC-5394-91AD-C77A-49447B5D98B2}"/>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C3BCA2E-3840-23B3-31B6-4539177A9CF5}"/>
              </a:ext>
            </a:extLst>
          </p:cNvPr>
          <p:cNvSpPr>
            <a:spLocks noGrp="1"/>
          </p:cNvSpPr>
          <p:nvPr>
            <p:ph type="dt" sz="half" idx="10"/>
          </p:nvPr>
        </p:nvSpPr>
        <p:spPr/>
        <p:txBody>
          <a:bodyPr/>
          <a:lstStyle/>
          <a:p>
            <a:fld id="{B6AE6920-1C94-448C-AE83-38E940FC2435}" type="datetimeFigureOut">
              <a:rPr lang="fr-FR" smtClean="0"/>
              <a:t>05/05/2026</a:t>
            </a:fld>
            <a:endParaRPr lang="fr-FR"/>
          </a:p>
        </p:txBody>
      </p:sp>
      <p:sp>
        <p:nvSpPr>
          <p:cNvPr id="4" name="Espace réservé du pied de page 3">
            <a:extLst>
              <a:ext uri="{FF2B5EF4-FFF2-40B4-BE49-F238E27FC236}">
                <a16:creationId xmlns:a16="http://schemas.microsoft.com/office/drawing/2014/main" id="{51EFB471-3ED7-E508-5E24-9461E753397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BB028FD-F640-4498-B3EA-373CD5401AB5}"/>
              </a:ext>
            </a:extLst>
          </p:cNvPr>
          <p:cNvSpPr>
            <a:spLocks noGrp="1"/>
          </p:cNvSpPr>
          <p:nvPr>
            <p:ph type="sldNum" sz="quarter" idx="12"/>
          </p:nvPr>
        </p:nvSpPr>
        <p:spPr/>
        <p:txBody>
          <a:bodyPr/>
          <a:lstStyle/>
          <a:p>
            <a:fld id="{8258ECC1-3D3C-430F-903F-C98AD04EE686}" type="slidenum">
              <a:rPr lang="fr-FR" smtClean="0"/>
              <a:t>‹N°›</a:t>
            </a:fld>
            <a:endParaRPr lang="fr-FR"/>
          </a:p>
        </p:txBody>
      </p:sp>
    </p:spTree>
    <p:extLst>
      <p:ext uri="{BB962C8B-B14F-4D97-AF65-F5344CB8AC3E}">
        <p14:creationId xmlns:p14="http://schemas.microsoft.com/office/powerpoint/2010/main" val="3640178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8C85B82-BF63-6EA5-18CA-8D529D687558}"/>
              </a:ext>
            </a:extLst>
          </p:cNvPr>
          <p:cNvSpPr>
            <a:spLocks noGrp="1"/>
          </p:cNvSpPr>
          <p:nvPr>
            <p:ph type="dt" sz="half" idx="10"/>
          </p:nvPr>
        </p:nvSpPr>
        <p:spPr/>
        <p:txBody>
          <a:bodyPr/>
          <a:lstStyle/>
          <a:p>
            <a:fld id="{B6AE6920-1C94-448C-AE83-38E940FC2435}" type="datetimeFigureOut">
              <a:rPr lang="fr-FR" smtClean="0"/>
              <a:t>05/05/2026</a:t>
            </a:fld>
            <a:endParaRPr lang="fr-FR"/>
          </a:p>
        </p:txBody>
      </p:sp>
      <p:sp>
        <p:nvSpPr>
          <p:cNvPr id="3" name="Espace réservé du pied de page 2">
            <a:extLst>
              <a:ext uri="{FF2B5EF4-FFF2-40B4-BE49-F238E27FC236}">
                <a16:creationId xmlns:a16="http://schemas.microsoft.com/office/drawing/2014/main" id="{B2BB846A-74C2-5369-AAAA-91E3813FF3BD}"/>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5FAD340-8D55-75C4-C9A8-67D93162AE6C}"/>
              </a:ext>
            </a:extLst>
          </p:cNvPr>
          <p:cNvSpPr>
            <a:spLocks noGrp="1"/>
          </p:cNvSpPr>
          <p:nvPr>
            <p:ph type="sldNum" sz="quarter" idx="12"/>
          </p:nvPr>
        </p:nvSpPr>
        <p:spPr/>
        <p:txBody>
          <a:bodyPr/>
          <a:lstStyle/>
          <a:p>
            <a:fld id="{8258ECC1-3D3C-430F-903F-C98AD04EE686}" type="slidenum">
              <a:rPr lang="fr-FR" smtClean="0"/>
              <a:t>‹N°›</a:t>
            </a:fld>
            <a:endParaRPr lang="fr-FR"/>
          </a:p>
        </p:txBody>
      </p:sp>
    </p:spTree>
    <p:extLst>
      <p:ext uri="{BB962C8B-B14F-4D97-AF65-F5344CB8AC3E}">
        <p14:creationId xmlns:p14="http://schemas.microsoft.com/office/powerpoint/2010/main" val="772183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32220A-D34C-36CA-EC8D-BA810943A7B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0537227-5560-485E-6651-9220B9137C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6EA1F23D-E629-A044-B740-0597621168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0626491-DFBB-BF36-797A-4EACD92DC44E}"/>
              </a:ext>
            </a:extLst>
          </p:cNvPr>
          <p:cNvSpPr>
            <a:spLocks noGrp="1"/>
          </p:cNvSpPr>
          <p:nvPr>
            <p:ph type="dt" sz="half" idx="10"/>
          </p:nvPr>
        </p:nvSpPr>
        <p:spPr/>
        <p:txBody>
          <a:bodyPr/>
          <a:lstStyle/>
          <a:p>
            <a:fld id="{B6AE6920-1C94-448C-AE83-38E940FC2435}" type="datetimeFigureOut">
              <a:rPr lang="fr-FR" smtClean="0"/>
              <a:t>05/05/2026</a:t>
            </a:fld>
            <a:endParaRPr lang="fr-FR"/>
          </a:p>
        </p:txBody>
      </p:sp>
      <p:sp>
        <p:nvSpPr>
          <p:cNvPr id="6" name="Espace réservé du pied de page 5">
            <a:extLst>
              <a:ext uri="{FF2B5EF4-FFF2-40B4-BE49-F238E27FC236}">
                <a16:creationId xmlns:a16="http://schemas.microsoft.com/office/drawing/2014/main" id="{02516EE3-CC21-0426-C93F-8E8F4099CF0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8A16D02-74E1-AE87-A43D-B9FAE4DE0914}"/>
              </a:ext>
            </a:extLst>
          </p:cNvPr>
          <p:cNvSpPr>
            <a:spLocks noGrp="1"/>
          </p:cNvSpPr>
          <p:nvPr>
            <p:ph type="sldNum" sz="quarter" idx="12"/>
          </p:nvPr>
        </p:nvSpPr>
        <p:spPr/>
        <p:txBody>
          <a:bodyPr/>
          <a:lstStyle/>
          <a:p>
            <a:fld id="{8258ECC1-3D3C-430F-903F-C98AD04EE686}" type="slidenum">
              <a:rPr lang="fr-FR" smtClean="0"/>
              <a:t>‹N°›</a:t>
            </a:fld>
            <a:endParaRPr lang="fr-FR"/>
          </a:p>
        </p:txBody>
      </p:sp>
    </p:spTree>
    <p:extLst>
      <p:ext uri="{BB962C8B-B14F-4D97-AF65-F5344CB8AC3E}">
        <p14:creationId xmlns:p14="http://schemas.microsoft.com/office/powerpoint/2010/main" val="1522407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C161E1-9602-29D4-092E-8F07456B6DD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AB84805C-A9F9-5123-9915-F55E7BDB5E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CC916FF7-B486-6DB5-26D2-E255403B1E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EAC83D4-2567-FFD3-8105-E78B6233D2E0}"/>
              </a:ext>
            </a:extLst>
          </p:cNvPr>
          <p:cNvSpPr>
            <a:spLocks noGrp="1"/>
          </p:cNvSpPr>
          <p:nvPr>
            <p:ph type="dt" sz="half" idx="10"/>
          </p:nvPr>
        </p:nvSpPr>
        <p:spPr/>
        <p:txBody>
          <a:bodyPr/>
          <a:lstStyle/>
          <a:p>
            <a:fld id="{B6AE6920-1C94-448C-AE83-38E940FC2435}" type="datetimeFigureOut">
              <a:rPr lang="fr-FR" smtClean="0"/>
              <a:t>05/05/2026</a:t>
            </a:fld>
            <a:endParaRPr lang="fr-FR"/>
          </a:p>
        </p:txBody>
      </p:sp>
      <p:sp>
        <p:nvSpPr>
          <p:cNvPr id="6" name="Espace réservé du pied de page 5">
            <a:extLst>
              <a:ext uri="{FF2B5EF4-FFF2-40B4-BE49-F238E27FC236}">
                <a16:creationId xmlns:a16="http://schemas.microsoft.com/office/drawing/2014/main" id="{08898FCF-C885-A0E5-D661-BACF12657FC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C8DD3DC-164D-0059-E947-4126EA80B74C}"/>
              </a:ext>
            </a:extLst>
          </p:cNvPr>
          <p:cNvSpPr>
            <a:spLocks noGrp="1"/>
          </p:cNvSpPr>
          <p:nvPr>
            <p:ph type="sldNum" sz="quarter" idx="12"/>
          </p:nvPr>
        </p:nvSpPr>
        <p:spPr/>
        <p:txBody>
          <a:bodyPr/>
          <a:lstStyle/>
          <a:p>
            <a:fld id="{8258ECC1-3D3C-430F-903F-C98AD04EE686}" type="slidenum">
              <a:rPr lang="fr-FR" smtClean="0"/>
              <a:t>‹N°›</a:t>
            </a:fld>
            <a:endParaRPr lang="fr-FR"/>
          </a:p>
        </p:txBody>
      </p:sp>
    </p:spTree>
    <p:extLst>
      <p:ext uri="{BB962C8B-B14F-4D97-AF65-F5344CB8AC3E}">
        <p14:creationId xmlns:p14="http://schemas.microsoft.com/office/powerpoint/2010/main" val="2207672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70DE8A-CDAE-63E7-7711-EB66584A7BD7}"/>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29371CB-DABB-A382-068B-B0856B740D8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7777B78-3347-3E5B-E8D6-D1419AB7D1E4}"/>
              </a:ext>
            </a:extLst>
          </p:cNvPr>
          <p:cNvSpPr>
            <a:spLocks noGrp="1"/>
          </p:cNvSpPr>
          <p:nvPr>
            <p:ph type="dt" sz="half" idx="10"/>
          </p:nvPr>
        </p:nvSpPr>
        <p:spPr/>
        <p:txBody>
          <a:bodyPr/>
          <a:lstStyle/>
          <a:p>
            <a:fld id="{B6AE6920-1C94-448C-AE83-38E940FC2435}" type="datetimeFigureOut">
              <a:rPr lang="fr-FR" smtClean="0"/>
              <a:t>05/05/2026</a:t>
            </a:fld>
            <a:endParaRPr lang="fr-FR"/>
          </a:p>
        </p:txBody>
      </p:sp>
      <p:sp>
        <p:nvSpPr>
          <p:cNvPr id="5" name="Espace réservé du pied de page 4">
            <a:extLst>
              <a:ext uri="{FF2B5EF4-FFF2-40B4-BE49-F238E27FC236}">
                <a16:creationId xmlns:a16="http://schemas.microsoft.com/office/drawing/2014/main" id="{26C5D0D2-6293-30A7-2A37-294910F5DB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2E88E53-550E-4AE5-37B1-F65546FBCEBB}"/>
              </a:ext>
            </a:extLst>
          </p:cNvPr>
          <p:cNvSpPr>
            <a:spLocks noGrp="1"/>
          </p:cNvSpPr>
          <p:nvPr>
            <p:ph type="sldNum" sz="quarter" idx="12"/>
          </p:nvPr>
        </p:nvSpPr>
        <p:spPr/>
        <p:txBody>
          <a:bodyPr/>
          <a:lstStyle/>
          <a:p>
            <a:fld id="{8258ECC1-3D3C-430F-903F-C98AD04EE686}" type="slidenum">
              <a:rPr lang="fr-FR" smtClean="0"/>
              <a:t>‹N°›</a:t>
            </a:fld>
            <a:endParaRPr lang="fr-FR"/>
          </a:p>
        </p:txBody>
      </p:sp>
    </p:spTree>
    <p:extLst>
      <p:ext uri="{BB962C8B-B14F-4D97-AF65-F5344CB8AC3E}">
        <p14:creationId xmlns:p14="http://schemas.microsoft.com/office/powerpoint/2010/main" val="2798916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5D92E34-E0EC-3097-3B70-3CD4C8E96936}"/>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47B74DB-45A2-3768-E9F4-8FDF65FF3A0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F7F0A86-8837-AAC4-63C4-2B5416B61A42}"/>
              </a:ext>
            </a:extLst>
          </p:cNvPr>
          <p:cNvSpPr>
            <a:spLocks noGrp="1"/>
          </p:cNvSpPr>
          <p:nvPr>
            <p:ph type="dt" sz="half" idx="10"/>
          </p:nvPr>
        </p:nvSpPr>
        <p:spPr/>
        <p:txBody>
          <a:bodyPr/>
          <a:lstStyle/>
          <a:p>
            <a:fld id="{B6AE6920-1C94-448C-AE83-38E940FC2435}" type="datetimeFigureOut">
              <a:rPr lang="fr-FR" smtClean="0"/>
              <a:t>05/05/2026</a:t>
            </a:fld>
            <a:endParaRPr lang="fr-FR"/>
          </a:p>
        </p:txBody>
      </p:sp>
      <p:sp>
        <p:nvSpPr>
          <p:cNvPr id="5" name="Espace réservé du pied de page 4">
            <a:extLst>
              <a:ext uri="{FF2B5EF4-FFF2-40B4-BE49-F238E27FC236}">
                <a16:creationId xmlns:a16="http://schemas.microsoft.com/office/drawing/2014/main" id="{77CF3138-63A5-FC48-E317-0DB0C5383F8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4E2AB2C-57AD-6F66-097F-3087E7272529}"/>
              </a:ext>
            </a:extLst>
          </p:cNvPr>
          <p:cNvSpPr>
            <a:spLocks noGrp="1"/>
          </p:cNvSpPr>
          <p:nvPr>
            <p:ph type="sldNum" sz="quarter" idx="12"/>
          </p:nvPr>
        </p:nvSpPr>
        <p:spPr/>
        <p:txBody>
          <a:bodyPr/>
          <a:lstStyle/>
          <a:p>
            <a:fld id="{8258ECC1-3D3C-430F-903F-C98AD04EE686}" type="slidenum">
              <a:rPr lang="fr-FR" smtClean="0"/>
              <a:t>‹N°›</a:t>
            </a:fld>
            <a:endParaRPr lang="fr-FR"/>
          </a:p>
        </p:txBody>
      </p:sp>
    </p:spTree>
    <p:extLst>
      <p:ext uri="{BB962C8B-B14F-4D97-AF65-F5344CB8AC3E}">
        <p14:creationId xmlns:p14="http://schemas.microsoft.com/office/powerpoint/2010/main" val="265602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BC4D0DA-9220-554A-4161-AEBDC4B414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FA401186-AD36-93B0-8EDC-47C40C619B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92F2704-6B53-C766-7069-6414A5ED42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AE6920-1C94-448C-AE83-38E940FC2435}" type="datetimeFigureOut">
              <a:rPr lang="fr-FR" smtClean="0"/>
              <a:t>05/05/2026</a:t>
            </a:fld>
            <a:endParaRPr lang="fr-FR"/>
          </a:p>
        </p:txBody>
      </p:sp>
      <p:sp>
        <p:nvSpPr>
          <p:cNvPr id="5" name="Espace réservé du pied de page 4">
            <a:extLst>
              <a:ext uri="{FF2B5EF4-FFF2-40B4-BE49-F238E27FC236}">
                <a16:creationId xmlns:a16="http://schemas.microsoft.com/office/drawing/2014/main" id="{52A3974F-DBDA-56BE-E09F-BFE489AC68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361AC1C-21B3-13F5-F4F2-E01DB90F01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58ECC1-3D3C-430F-903F-C98AD04EE686}" type="slidenum">
              <a:rPr lang="fr-FR" smtClean="0"/>
              <a:t>‹N°›</a:t>
            </a:fld>
            <a:endParaRPr lang="fr-FR"/>
          </a:p>
        </p:txBody>
      </p:sp>
    </p:spTree>
    <p:extLst>
      <p:ext uri="{BB962C8B-B14F-4D97-AF65-F5344CB8AC3E}">
        <p14:creationId xmlns:p14="http://schemas.microsoft.com/office/powerpoint/2010/main" val="29377436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BF625288-E7AB-BB3D-21F1-F655FED9A54A}"/>
              </a:ext>
            </a:extLst>
          </p:cNvPr>
          <p:cNvSpPr txBox="1"/>
          <p:nvPr/>
        </p:nvSpPr>
        <p:spPr>
          <a:xfrm>
            <a:off x="3189514" y="1208314"/>
            <a:ext cx="5704115" cy="369332"/>
          </a:xfrm>
          <a:prstGeom prst="rect">
            <a:avLst/>
          </a:prstGeom>
          <a:noFill/>
        </p:spPr>
        <p:txBody>
          <a:bodyPr wrap="square" rtlCol="0">
            <a:spAutoFit/>
          </a:bodyPr>
          <a:lstStyle/>
          <a:p>
            <a:r>
              <a:rPr lang="fr-FR" dirty="0"/>
              <a:t>Traits anatomiques caractérisation</a:t>
            </a:r>
          </a:p>
        </p:txBody>
      </p:sp>
    </p:spTree>
    <p:extLst>
      <p:ext uri="{BB962C8B-B14F-4D97-AF65-F5344CB8AC3E}">
        <p14:creationId xmlns:p14="http://schemas.microsoft.com/office/powerpoint/2010/main" val="2638250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FB93D49B-9E82-F46D-B04D-70E02BF7EE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3584" y="566057"/>
            <a:ext cx="8402159" cy="4253593"/>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F591E9D3-CF73-C697-0E4D-E0D287867FE7}"/>
              </a:ext>
            </a:extLst>
          </p:cNvPr>
          <p:cNvSpPr txBox="1"/>
          <p:nvPr/>
        </p:nvSpPr>
        <p:spPr>
          <a:xfrm>
            <a:off x="2656114" y="5767979"/>
            <a:ext cx="6096000" cy="369332"/>
          </a:xfrm>
          <a:prstGeom prst="rect">
            <a:avLst/>
          </a:prstGeom>
          <a:noFill/>
        </p:spPr>
        <p:txBody>
          <a:bodyPr wrap="square">
            <a:spAutoFit/>
          </a:bodyPr>
          <a:lstStyle/>
          <a:p>
            <a:r>
              <a:rPr lang="fr-FR" sz="900" dirty="0"/>
              <a:t>https://www.researchgate.net/publication/334526261_Root_cortical_anatomy_is_associated_with_differential_pathogenic_and_symbiotic_fungal_colonization_in_maize/figures?lo=1</a:t>
            </a:r>
          </a:p>
        </p:txBody>
      </p:sp>
    </p:spTree>
    <p:extLst>
      <p:ext uri="{BB962C8B-B14F-4D97-AF65-F5344CB8AC3E}">
        <p14:creationId xmlns:p14="http://schemas.microsoft.com/office/powerpoint/2010/main" val="3618197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lants 15 00020 g001">
            <a:extLst>
              <a:ext uri="{FF2B5EF4-FFF2-40B4-BE49-F238E27FC236}">
                <a16:creationId xmlns:a16="http://schemas.microsoft.com/office/drawing/2014/main" id="{AD9DD07E-8FC5-22B0-74F0-FC597D0047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1830" y="696687"/>
            <a:ext cx="9258468" cy="4898570"/>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87F7A59E-2881-4C25-6E4B-CA4B2B2859DC}"/>
              </a:ext>
            </a:extLst>
          </p:cNvPr>
          <p:cNvSpPr txBox="1"/>
          <p:nvPr/>
        </p:nvSpPr>
        <p:spPr>
          <a:xfrm>
            <a:off x="3048000" y="6161313"/>
            <a:ext cx="6096000" cy="369332"/>
          </a:xfrm>
          <a:prstGeom prst="rect">
            <a:avLst/>
          </a:prstGeom>
          <a:noFill/>
        </p:spPr>
        <p:txBody>
          <a:bodyPr wrap="square">
            <a:spAutoFit/>
          </a:bodyPr>
          <a:lstStyle/>
          <a:p>
            <a:r>
              <a:rPr lang="fr-FR" dirty="0"/>
              <a:t>https://www.mdpi.com/2223-7747/15/1/20</a:t>
            </a:r>
          </a:p>
        </p:txBody>
      </p:sp>
    </p:spTree>
    <p:extLst>
      <p:ext uri="{BB962C8B-B14F-4D97-AF65-F5344CB8AC3E}">
        <p14:creationId xmlns:p14="http://schemas.microsoft.com/office/powerpoint/2010/main" val="3387426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4ECC36A4-6AA3-A968-C472-426A90EDE1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440871"/>
            <a:ext cx="6096000" cy="4495800"/>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AE2D2FDB-A69E-D852-3405-439EEC2CFAAC}"/>
              </a:ext>
            </a:extLst>
          </p:cNvPr>
          <p:cNvSpPr txBox="1"/>
          <p:nvPr/>
        </p:nvSpPr>
        <p:spPr>
          <a:xfrm>
            <a:off x="1284514" y="5522464"/>
            <a:ext cx="6096000" cy="646331"/>
          </a:xfrm>
          <a:prstGeom prst="rect">
            <a:avLst/>
          </a:prstGeom>
          <a:noFill/>
        </p:spPr>
        <p:txBody>
          <a:bodyPr wrap="square">
            <a:spAutoFit/>
          </a:bodyPr>
          <a:lstStyle/>
          <a:p>
            <a:r>
              <a:rPr lang="fr-FR" dirty="0"/>
              <a:t>https://www.researchgate.net/publication/353069360_Root_anatomy_and_soil_resource_capture/figures</a:t>
            </a:r>
          </a:p>
        </p:txBody>
      </p:sp>
      <p:sp>
        <p:nvSpPr>
          <p:cNvPr id="7" name="ZoneTexte 6">
            <a:extLst>
              <a:ext uri="{FF2B5EF4-FFF2-40B4-BE49-F238E27FC236}">
                <a16:creationId xmlns:a16="http://schemas.microsoft.com/office/drawing/2014/main" id="{EBA7FAF9-3B53-4278-8D9B-936CEEB28A8B}"/>
              </a:ext>
            </a:extLst>
          </p:cNvPr>
          <p:cNvSpPr txBox="1"/>
          <p:nvPr/>
        </p:nvSpPr>
        <p:spPr>
          <a:xfrm>
            <a:off x="7663544" y="440871"/>
            <a:ext cx="3940628" cy="5463034"/>
          </a:xfrm>
          <a:prstGeom prst="rect">
            <a:avLst/>
          </a:prstGeom>
          <a:noFill/>
        </p:spPr>
        <p:txBody>
          <a:bodyPr wrap="square">
            <a:spAutoFit/>
          </a:bodyPr>
          <a:lstStyle/>
          <a:p>
            <a:pPr algn="l">
              <a:spcBef>
                <a:spcPts val="375"/>
              </a:spcBef>
              <a:spcAft>
                <a:spcPts val="1875"/>
              </a:spcAft>
              <a:buNone/>
            </a:pPr>
            <a:r>
              <a:rPr lang="en-US" b="1" i="0" dirty="0">
                <a:solidFill>
                  <a:srgbClr val="131314"/>
                </a:solidFill>
                <a:effectLst/>
                <a:latin typeface="Manrope Var"/>
              </a:rPr>
              <a:t>Figure</a:t>
            </a:r>
          </a:p>
          <a:p>
            <a:pPr algn="l">
              <a:spcAft>
                <a:spcPts val="1125"/>
              </a:spcAft>
              <a:buNone/>
            </a:pPr>
            <a:r>
              <a:rPr lang="en-US" b="0" i="0" dirty="0">
                <a:solidFill>
                  <a:srgbClr val="131314"/>
                </a:solidFill>
                <a:effectLst/>
                <a:latin typeface="Inter Var"/>
              </a:rPr>
              <a:t>Caption</a:t>
            </a:r>
          </a:p>
          <a:p>
            <a:pPr algn="l">
              <a:spcAft>
                <a:spcPts val="1875"/>
              </a:spcAft>
              <a:buNone/>
            </a:pPr>
            <a:r>
              <a:rPr lang="en-US" b="0" i="0" dirty="0">
                <a:solidFill>
                  <a:srgbClr val="262626"/>
                </a:solidFill>
                <a:effectLst/>
                <a:latin typeface="Inter Var"/>
              </a:rPr>
              <a:t>Phenotypic variation in maize for root cortical aerenchyma (RCA, a), cortical cell file number (CCFN, b) and cortical cell size (CCS, c). (d) Under water stress, genotypes with greater RCA have less respiration (nmol CO2 s–1 cm–1), deeper rooting (a, cm roots at 40–50 cm soil depth; b, c, D95, which is the depth in cm attained by the 95th percentile of roots), and greater yield (g per plant), as did genotypes with reduced CCFN (e) and greater CCS (f). Data shown are means ± SE (n = 3 or 4). Means with different letters are significantly different (P ≤ 0.05). Redrawn from Lynch (2018)</a:t>
            </a:r>
          </a:p>
        </p:txBody>
      </p:sp>
    </p:spTree>
    <p:extLst>
      <p:ext uri="{BB962C8B-B14F-4D97-AF65-F5344CB8AC3E}">
        <p14:creationId xmlns:p14="http://schemas.microsoft.com/office/powerpoint/2010/main" val="2914952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ED6BB711-D340-7FD4-4655-47ABE31D54F4}"/>
              </a:ext>
            </a:extLst>
          </p:cNvPr>
          <p:cNvPicPr>
            <a:picLocks noChangeAspect="1"/>
          </p:cNvPicPr>
          <p:nvPr/>
        </p:nvPicPr>
        <p:blipFill>
          <a:blip r:embed="rId2"/>
          <a:stretch>
            <a:fillRect/>
          </a:stretch>
        </p:blipFill>
        <p:spPr>
          <a:xfrm>
            <a:off x="1053034" y="97892"/>
            <a:ext cx="9647623" cy="4788893"/>
          </a:xfrm>
          <a:prstGeom prst="rect">
            <a:avLst/>
          </a:prstGeom>
        </p:spPr>
      </p:pic>
      <p:sp>
        <p:nvSpPr>
          <p:cNvPr id="9" name="ZoneTexte 8">
            <a:extLst>
              <a:ext uri="{FF2B5EF4-FFF2-40B4-BE49-F238E27FC236}">
                <a16:creationId xmlns:a16="http://schemas.microsoft.com/office/drawing/2014/main" id="{043B44A5-3389-C0EB-D5E9-2334B2769679}"/>
              </a:ext>
            </a:extLst>
          </p:cNvPr>
          <p:cNvSpPr txBox="1"/>
          <p:nvPr/>
        </p:nvSpPr>
        <p:spPr>
          <a:xfrm>
            <a:off x="3145971" y="5391835"/>
            <a:ext cx="6858000" cy="369332"/>
          </a:xfrm>
          <a:prstGeom prst="rect">
            <a:avLst/>
          </a:prstGeom>
          <a:noFill/>
        </p:spPr>
        <p:txBody>
          <a:bodyPr wrap="square">
            <a:spAutoFit/>
          </a:bodyPr>
          <a:lstStyle/>
          <a:p>
            <a:r>
              <a:rPr lang="fr-FR" dirty="0"/>
              <a:t>https://link.springer.com/article/10.1007/s11104-025-07498-0</a:t>
            </a:r>
          </a:p>
        </p:txBody>
      </p:sp>
    </p:spTree>
    <p:extLst>
      <p:ext uri="{BB962C8B-B14F-4D97-AF65-F5344CB8AC3E}">
        <p14:creationId xmlns:p14="http://schemas.microsoft.com/office/powerpoint/2010/main" val="3643058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8C08B967-22B0-E2B2-3BFE-16890E15A9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5882" y="133350"/>
            <a:ext cx="5972175" cy="5219700"/>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69E551FE-2DDE-C833-A9E1-19F0D7F5695A}"/>
              </a:ext>
            </a:extLst>
          </p:cNvPr>
          <p:cNvSpPr txBox="1"/>
          <p:nvPr/>
        </p:nvSpPr>
        <p:spPr>
          <a:xfrm>
            <a:off x="2852057" y="5685749"/>
            <a:ext cx="6096000" cy="646331"/>
          </a:xfrm>
          <a:prstGeom prst="rect">
            <a:avLst/>
          </a:prstGeom>
          <a:noFill/>
        </p:spPr>
        <p:txBody>
          <a:bodyPr wrap="square">
            <a:spAutoFit/>
          </a:bodyPr>
          <a:lstStyle/>
          <a:p>
            <a:r>
              <a:rPr lang="fr-FR" dirty="0"/>
              <a:t>https://plantlifebelowground.wordpress.com/2025/07/30/the-dynamic-world-of-the-root-cortex/</a:t>
            </a:r>
          </a:p>
        </p:txBody>
      </p:sp>
    </p:spTree>
    <p:extLst>
      <p:ext uri="{BB962C8B-B14F-4D97-AF65-F5344CB8AC3E}">
        <p14:creationId xmlns:p14="http://schemas.microsoft.com/office/powerpoint/2010/main" val="891323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57801-7F02-DACC-56EB-AA4376EAEEBD}"/>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D4C10C0-F3B5-0D28-F006-D5DDDD6542C3}"/>
              </a:ext>
            </a:extLst>
          </p:cNvPr>
          <p:cNvSpPr>
            <a:spLocks noGrp="1"/>
          </p:cNvSpPr>
          <p:nvPr>
            <p:ph idx="1"/>
          </p:nvPr>
        </p:nvSpPr>
        <p:spPr/>
        <p:txBody>
          <a:bodyPr/>
          <a:lstStyle/>
          <a:p>
            <a:pPr marL="0" indent="0">
              <a:buNone/>
            </a:pPr>
            <a:r>
              <a:rPr lang="en-US" dirty="0" err="1"/>
              <a:t>ImageMaster</a:t>
            </a:r>
            <a:r>
              <a:rPr lang="en-US" dirty="0"/>
              <a:t> 5.0 software (</a:t>
            </a:r>
            <a:r>
              <a:rPr lang="en-US" dirty="0" err="1"/>
              <a:t>PhotonTechnology</a:t>
            </a:r>
            <a:r>
              <a:rPr lang="en-US" dirty="0"/>
              <a:t>, 2004) was used to capture and save </a:t>
            </a:r>
            <a:r>
              <a:rPr lang="en-US" dirty="0" err="1"/>
              <a:t>images.Images</a:t>
            </a:r>
            <a:r>
              <a:rPr lang="en-US" dirty="0"/>
              <a:t> were analyzed in </a:t>
            </a:r>
            <a:r>
              <a:rPr lang="en-US" dirty="0" err="1"/>
              <a:t>MatLab</a:t>
            </a:r>
            <a:r>
              <a:rPr lang="en-US" dirty="0"/>
              <a:t> 7.6 2008a (MathWorks,2008) using the program </a:t>
            </a:r>
            <a:r>
              <a:rPr lang="en-US" dirty="0" err="1"/>
              <a:t>RootScan</a:t>
            </a:r>
            <a:r>
              <a:rPr lang="en-US" dirty="0"/>
              <a:t>, which was created for </a:t>
            </a:r>
            <a:r>
              <a:rPr lang="en-US" dirty="0" err="1"/>
              <a:t>thispurpose</a:t>
            </a:r>
            <a:r>
              <a:rPr lang="en-US" dirty="0"/>
              <a:t> (Burton et al., 2012).</a:t>
            </a:r>
            <a:endParaRPr lang="fr-FR" dirty="0"/>
          </a:p>
        </p:txBody>
      </p:sp>
      <p:sp>
        <p:nvSpPr>
          <p:cNvPr id="4" name="ZoneTexte 3">
            <a:extLst>
              <a:ext uri="{FF2B5EF4-FFF2-40B4-BE49-F238E27FC236}">
                <a16:creationId xmlns:a16="http://schemas.microsoft.com/office/drawing/2014/main" id="{4FCCCAAB-E478-FFF4-C263-61F2257FF3F7}"/>
              </a:ext>
            </a:extLst>
          </p:cNvPr>
          <p:cNvSpPr txBox="1"/>
          <p:nvPr/>
        </p:nvSpPr>
        <p:spPr>
          <a:xfrm>
            <a:off x="2471057" y="5431750"/>
            <a:ext cx="6096000" cy="461665"/>
          </a:xfrm>
          <a:prstGeom prst="rect">
            <a:avLst/>
          </a:prstGeom>
          <a:noFill/>
        </p:spPr>
        <p:txBody>
          <a:bodyPr wrap="square">
            <a:spAutoFit/>
          </a:bodyPr>
          <a:lstStyle/>
          <a:p>
            <a:r>
              <a:rPr lang="fr-FR" sz="800" dirty="0"/>
              <a:t>https://www.researchgate.net/profile/Amy-Burton-9/publication/274435054_Phenotypic_Diversity_of_Root_Anatomical_and_Architectural_Traits_in_Zea_Species/links/654b8882ce88b87031d6a8bd/Phenotypic-Diversity-of-Root-Anatomical-and-Architectural-Traits-in-Zea-Species.pdf</a:t>
            </a:r>
          </a:p>
        </p:txBody>
      </p:sp>
    </p:spTree>
    <p:extLst>
      <p:ext uri="{BB962C8B-B14F-4D97-AF65-F5344CB8AC3E}">
        <p14:creationId xmlns:p14="http://schemas.microsoft.com/office/powerpoint/2010/main" val="3434675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E87F59-211C-8258-5725-33222AC87EBE}"/>
              </a:ext>
            </a:extLst>
          </p:cNvPr>
          <p:cNvSpPr>
            <a:spLocks noGrp="1"/>
          </p:cNvSpPr>
          <p:nvPr>
            <p:ph type="title"/>
          </p:nvPr>
        </p:nvSpPr>
        <p:spPr/>
        <p:txBody>
          <a:bodyPr/>
          <a:lstStyle/>
          <a:p>
            <a:r>
              <a:rPr lang="fr-FR" dirty="0"/>
              <a:t>Traits anatomiques mesurés ou calculés</a:t>
            </a:r>
          </a:p>
        </p:txBody>
      </p:sp>
      <p:pic>
        <p:nvPicPr>
          <p:cNvPr id="7" name="Image 6">
            <a:extLst>
              <a:ext uri="{FF2B5EF4-FFF2-40B4-BE49-F238E27FC236}">
                <a16:creationId xmlns:a16="http://schemas.microsoft.com/office/drawing/2014/main" id="{9AEF128B-4484-03B4-67A6-EFA3E7DAA4BE}"/>
              </a:ext>
            </a:extLst>
          </p:cNvPr>
          <p:cNvPicPr>
            <a:picLocks noChangeAspect="1"/>
          </p:cNvPicPr>
          <p:nvPr/>
        </p:nvPicPr>
        <p:blipFill>
          <a:blip r:embed="rId2"/>
          <a:stretch>
            <a:fillRect/>
          </a:stretch>
        </p:blipFill>
        <p:spPr>
          <a:xfrm>
            <a:off x="838200" y="1426250"/>
            <a:ext cx="6983767" cy="3389834"/>
          </a:xfrm>
          <a:prstGeom prst="rect">
            <a:avLst/>
          </a:prstGeom>
        </p:spPr>
      </p:pic>
      <p:sp>
        <p:nvSpPr>
          <p:cNvPr id="9" name="ZoneTexte 8">
            <a:extLst>
              <a:ext uri="{FF2B5EF4-FFF2-40B4-BE49-F238E27FC236}">
                <a16:creationId xmlns:a16="http://schemas.microsoft.com/office/drawing/2014/main" id="{A3163C15-85A2-0B3B-9076-0706CEB1B9C2}"/>
              </a:ext>
            </a:extLst>
          </p:cNvPr>
          <p:cNvSpPr txBox="1"/>
          <p:nvPr/>
        </p:nvSpPr>
        <p:spPr>
          <a:xfrm>
            <a:off x="2471057" y="5431750"/>
            <a:ext cx="6096000" cy="461665"/>
          </a:xfrm>
          <a:prstGeom prst="rect">
            <a:avLst/>
          </a:prstGeom>
          <a:noFill/>
        </p:spPr>
        <p:txBody>
          <a:bodyPr wrap="square">
            <a:spAutoFit/>
          </a:bodyPr>
          <a:lstStyle/>
          <a:p>
            <a:r>
              <a:rPr lang="fr-FR" sz="800" dirty="0"/>
              <a:t>https://www.researchgate.net/profile/Amy-Burton-9/publication/274435054_Phenotypic_Diversity_of_Root_Anatomical_and_Architectural_Traits_in_Zea_Species/links/654b8882ce88b87031d6a8bd/Phenotypic-Diversity-of-Root-Anatomical-and-Architectural-Traits-in-Zea-Species.pdf</a:t>
            </a:r>
          </a:p>
        </p:txBody>
      </p:sp>
    </p:spTree>
    <p:extLst>
      <p:ext uri="{BB962C8B-B14F-4D97-AF65-F5344CB8AC3E}">
        <p14:creationId xmlns:p14="http://schemas.microsoft.com/office/powerpoint/2010/main" val="3837678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7017A644-293B-DFB9-8396-311344156B3A}"/>
              </a:ext>
            </a:extLst>
          </p:cNvPr>
          <p:cNvSpPr txBox="1"/>
          <p:nvPr/>
        </p:nvSpPr>
        <p:spPr>
          <a:xfrm>
            <a:off x="2862943" y="5278121"/>
            <a:ext cx="6096000" cy="1200329"/>
          </a:xfrm>
          <a:prstGeom prst="rect">
            <a:avLst/>
          </a:prstGeom>
          <a:noFill/>
        </p:spPr>
        <p:txBody>
          <a:bodyPr wrap="square">
            <a:spAutoFit/>
          </a:bodyPr>
          <a:lstStyle/>
          <a:p>
            <a:r>
              <a:rPr lang="fr-FR" dirty="0"/>
              <a:t>https://www.researchgate.net/publication/282128391_RootAnalyzer_A_Cross-Section_Image_Analysis_Tool_for_Automated_Characterization_of_Root_Cells_and_Tissues/figures?lo=1</a:t>
            </a:r>
          </a:p>
        </p:txBody>
      </p:sp>
      <p:pic>
        <p:nvPicPr>
          <p:cNvPr id="6146" name="Picture 2">
            <a:extLst>
              <a:ext uri="{FF2B5EF4-FFF2-40B4-BE49-F238E27FC236}">
                <a16:creationId xmlns:a16="http://schemas.microsoft.com/office/drawing/2014/main" id="{E03A87C9-5957-B03D-D1C6-09FAAF1224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29" y="659267"/>
            <a:ext cx="6096000" cy="2905125"/>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FC22A03A-06F2-8F63-8F3F-3A6A839D5FBE}"/>
              </a:ext>
            </a:extLst>
          </p:cNvPr>
          <p:cNvSpPr txBox="1"/>
          <p:nvPr/>
        </p:nvSpPr>
        <p:spPr>
          <a:xfrm>
            <a:off x="8077200" y="379550"/>
            <a:ext cx="3505200" cy="4801314"/>
          </a:xfrm>
          <a:prstGeom prst="rect">
            <a:avLst/>
          </a:prstGeom>
          <a:noFill/>
        </p:spPr>
        <p:txBody>
          <a:bodyPr wrap="square">
            <a:spAutoFit/>
          </a:bodyPr>
          <a:lstStyle/>
          <a:p>
            <a:r>
              <a:rPr lang="en-US" b="0" i="0" dirty="0">
                <a:solidFill>
                  <a:srgbClr val="262626"/>
                </a:solidFill>
                <a:effectLst/>
                <a:latin typeface="Inter Var"/>
              </a:rPr>
              <a:t>Fig 2. Flowchart outlining the steps of the algorithm. First we acquire the images using a Leica AS LMD laser dissection microscope with a DFC 480 camera and then segment them using a local thresholding technique. Cells are detected using a distance transform of the segmented image and are then initially classified by their area. A number of subsequent steps then correctly classify cells into the four main regions; cortex, stele, endodermis and central metaxylem. doi:10.1371/journal.pone.0137655.g002 </a:t>
            </a:r>
            <a:endParaRPr lang="fr-FR" dirty="0"/>
          </a:p>
        </p:txBody>
      </p:sp>
    </p:spTree>
    <p:extLst>
      <p:ext uri="{BB962C8B-B14F-4D97-AF65-F5344CB8AC3E}">
        <p14:creationId xmlns:p14="http://schemas.microsoft.com/office/powerpoint/2010/main" val="190223584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530</Words>
  <Application>Microsoft Office PowerPoint</Application>
  <PresentationFormat>Grand écran</PresentationFormat>
  <Paragraphs>15</Paragraphs>
  <Slides>9</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9</vt:i4>
      </vt:variant>
    </vt:vector>
  </HeadingPairs>
  <TitlesOfParts>
    <vt:vector size="15" baseType="lpstr">
      <vt:lpstr>Aptos</vt:lpstr>
      <vt:lpstr>Aptos Display</vt:lpstr>
      <vt:lpstr>Arial</vt:lpstr>
      <vt:lpstr>Inter Var</vt:lpstr>
      <vt:lpstr>Manrope Var</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Traits anatomiques mesurés ou calculés</vt:lpstr>
      <vt:lpstr>Présentation PowerPoint</vt:lpstr>
    </vt:vector>
  </TitlesOfParts>
  <Company>UniLaSalle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Michel-Pierre FAUCON</dc:creator>
  <cp:lastModifiedBy>Michel-Pierre FAUCON</cp:lastModifiedBy>
  <cp:revision>1</cp:revision>
  <dcterms:created xsi:type="dcterms:W3CDTF">2026-05-05T12:51:41Z</dcterms:created>
  <dcterms:modified xsi:type="dcterms:W3CDTF">2026-05-05T13:30:42Z</dcterms:modified>
</cp:coreProperties>
</file>